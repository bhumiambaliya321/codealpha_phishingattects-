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E3A5C">
              <a:alpha val="30000"/>
            </a:srgbClr>
          </a:solidFill>
          <a:ln w="12700">
            <a:solidFill>
              <a:srgbClr val="0E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0097A7">
              <a:alpha val="18000"/>
            </a:srgbClr>
          </a:solidFill>
          <a:ln w="12700">
            <a:solidFill>
              <a:srgbClr val="0097A7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8229600" cy="4023360"/>
          </a:xfrm>
          <a:prstGeom prst="roundRect">
            <a:avLst>
              <a:gd name="adj" fmla="val 4091"/>
            </a:avLst>
          </a:prstGeom>
          <a:solidFill>
            <a:srgbClr val="1A3A5C">
              <a:alpha val="75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0" y="822960"/>
            <a:ext cx="2560320" cy="347472"/>
          </a:xfrm>
          <a:prstGeom prst="roundRect">
            <a:avLst>
              <a:gd name="adj" fmla="val 39474"/>
            </a:avLst>
          </a:prstGeom>
          <a:solidFill>
            <a:srgbClr val="0097A7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CYBERSECURITY AWARENESS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 and Your Organization from Cyber Threats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97280" y="3520440"/>
            <a:ext cx="502920" cy="502920"/>
          </a:xfrm>
          <a:prstGeom prst="ellipse">
            <a:avLst/>
          </a:prstGeom>
          <a:solidFill>
            <a:srgbClr val="1565C0">
              <a:alpha val="70000"/>
            </a:srgbClr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54787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017520" y="3520440"/>
            <a:ext cx="502920" cy="502920"/>
          </a:xfrm>
          <a:prstGeom prst="ellipse">
            <a:avLst/>
          </a:prstGeom>
          <a:solidFill>
            <a:srgbClr val="1565C0">
              <a:alpha val="70000"/>
            </a:srgbClr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54787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Safety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937760" y="3520440"/>
            <a:ext cx="502920" cy="502920"/>
          </a:xfrm>
          <a:prstGeom prst="ellipse">
            <a:avLst/>
          </a:prstGeom>
          <a:solidFill>
            <a:srgbClr val="1565C0">
              <a:alpha val="70000"/>
            </a:srgbClr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4787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6858000" y="3520440"/>
            <a:ext cx="502920" cy="502920"/>
          </a:xfrm>
          <a:prstGeom prst="ellipse">
            <a:avLst/>
          </a:prstGeom>
          <a:solidFill>
            <a:srgbClr val="1565C0">
              <a:alpha val="70000"/>
            </a:srgbClr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54787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2940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Awareness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Cybersecurity Training  |  2025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Phishing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#1 Cyber Threat Vector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cybercrime where attackers disguise themselves as trustworthy entities to trick victims into revealing sensitive information like passwords, credit card numbers, or login credentials.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EF5350">
              <a:alpha val="45000"/>
            </a:srgbClr>
          </a:solidFill>
          <a:ln w="6350">
            <a:solidFill>
              <a:srgbClr val="EF53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864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phishing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0" y="324612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FF7043">
              <a:alpha val="45000"/>
            </a:srgbClr>
          </a:solidFill>
          <a:ln w="6350">
            <a:solidFill>
              <a:srgbClr val="FF704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286000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80560" y="1188720"/>
            <a:ext cx="4389120" cy="3474720"/>
          </a:xfrm>
          <a:prstGeom prst="roundRect">
            <a:avLst>
              <a:gd name="adj" fmla="val 3158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17720" y="1783080"/>
            <a:ext cx="347472" cy="347472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1051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0680" y="1801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 a deceptive message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73168" y="2130552"/>
            <a:ext cx="0" cy="1828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17720" y="2304288"/>
            <a:ext cx="347472" cy="347472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177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3172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40680" y="23225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lure via email/SMS/call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73168" y="2651760"/>
            <a:ext cx="0" cy="1828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617720" y="2825496"/>
            <a:ext cx="347472" cy="347472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177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85292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28437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a malicious link or attachment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773168" y="3172968"/>
            <a:ext cx="0" cy="1828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17720" y="3346704"/>
            <a:ext cx="347472" cy="347472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61772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74136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440680" y="3364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or data are stolen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773168" y="3694176"/>
            <a:ext cx="0" cy="1828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617720" y="3867912"/>
            <a:ext cx="347472" cy="347472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1772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895344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40680" y="3886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gains access or sells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Attackers Use Phishing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attacker's perspective — why this method is preferred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0097A7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44168"/>
            <a:ext cx="457200" cy="457200"/>
          </a:xfrm>
          <a:prstGeom prst="ellipse">
            <a:avLst/>
          </a:prstGeom>
          <a:solidFill>
            <a:srgbClr val="0097A7">
              <a:alpha val="75000"/>
            </a:srgbClr>
          </a:solidFill>
          <a:ln w="6350">
            <a:solidFill>
              <a:srgbClr val="0097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8074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8013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minimal resources. A basic phishing kit costs under $5 on dark web forums.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FF7043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0128" y="1344168"/>
            <a:ext cx="457200" cy="457200"/>
          </a:xfrm>
          <a:prstGeom prst="ellipse">
            <a:avLst/>
          </a:prstGeom>
          <a:solidFill>
            <a:srgbClr val="FF7043">
              <a:alpha val="75000"/>
            </a:srgbClr>
          </a:solidFill>
          <a:ln w="6350">
            <a:solidFill>
              <a:srgbClr val="FF704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8074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18013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phishing attack yields $1.6M. ROI far exceeds most criminal enterprises.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1E88E5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1344168"/>
            <a:ext cx="457200" cy="457200"/>
          </a:xfrm>
          <a:prstGeom prst="ellipse">
            <a:avLst/>
          </a:prstGeom>
          <a:solidFill>
            <a:srgbClr val="1E88E5">
              <a:alpha val="75000"/>
            </a:srgbClr>
          </a:solidFill>
          <a:ln w="6350">
            <a:solidFill>
              <a:srgbClr val="1E88E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8074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72200" y="18013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phishing emails can be sent simultaneously to targets worldwide.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1089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EF535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" y="3218688"/>
            <a:ext cx="457200" cy="457200"/>
          </a:xfrm>
          <a:prstGeom prst="ellipse">
            <a:avLst/>
          </a:prstGeom>
          <a:solidFill>
            <a:srgbClr val="EF5350">
              <a:alpha val="75000"/>
            </a:srgbClr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255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2920" y="36758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VPNs, proxies, and bot networks to hide their real identity.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31089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FFD54F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10128" y="3218688"/>
            <a:ext cx="457200" cy="457200"/>
          </a:xfrm>
          <a:prstGeom prst="ellipse">
            <a:avLst/>
          </a:prstGeom>
          <a:solidFill>
            <a:srgbClr val="FFD54F">
              <a:alpha val="75000"/>
            </a:srgbClr>
          </a:solidFill>
          <a:ln w="6350">
            <a:solidFill>
              <a:srgbClr val="FFD54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255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Humans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337560" y="36758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the weakest link. Social engineering bypasses even strong tech defenses.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31089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2240">
              <a:alpha val="90000"/>
            </a:srgbClr>
          </a:solidFill>
          <a:ln w="6350">
            <a:solidFill>
              <a:srgbClr val="9C27B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44768" y="3218688"/>
            <a:ext cx="457200" cy="457200"/>
          </a:xfrm>
          <a:prstGeom prst="ellipse">
            <a:avLst/>
          </a:prstGeom>
          <a:solidFill>
            <a:srgbClr val="9C27B0">
              <a:alpha val="75000"/>
            </a:srgbClr>
          </a:solidFill>
          <a:ln w="6350">
            <a:solidFill>
              <a:srgbClr val="9C27B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255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Data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172200" y="36758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and data sell for hundreds of dollars each on dark web markets.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attack vectors — know them 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E88E5">
              <a:alpha val="70000"/>
            </a:srgbClr>
          </a:solidFill>
          <a:ln w="6350">
            <a:solidFill>
              <a:srgbClr val="1E88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1673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261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60704" y="159105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1E88E5">
              <a:alpha val="65000"/>
            </a:srgbClr>
          </a:solidFill>
          <a:ln w="381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591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Deception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60704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fraudulent emails impersonating trusted brands like banks, Google, or PayPal.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99432" y="118872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280160"/>
            <a:ext cx="502920" cy="502920"/>
          </a:xfrm>
          <a:prstGeom prst="ellipse">
            <a:avLst/>
          </a:prstGeom>
          <a:solidFill>
            <a:srgbClr val="FF7043">
              <a:alpha val="70000"/>
            </a:srgbClr>
          </a:solidFill>
          <a:ln w="6350">
            <a:solidFill>
              <a:srgbClr val="FF704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316736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2664" y="1261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312664" y="159105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FF7043">
              <a:alpha val="65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12664" y="1591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312664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personalized attacks using victim's name, job title, or recent activity.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47472" y="251460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9C27B0">
              <a:alpha val="70000"/>
            </a:srgbClr>
          </a:solidFill>
          <a:ln w="6350">
            <a:solidFill>
              <a:srgbClr val="9C27B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642616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0704" y="2587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1060704" y="291693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9C27B0">
              <a:alpha val="65000"/>
            </a:srgbClr>
          </a:solidFill>
          <a:ln w="3810">
            <a:solidFill>
              <a:srgbClr val="9C27B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60704" y="2916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Targeting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1060704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C-suite executives with carefully crafted, high-value deception attacks.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599432" y="251460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2606040"/>
            <a:ext cx="502920" cy="502920"/>
          </a:xfrm>
          <a:prstGeom prst="ellipse">
            <a:avLst/>
          </a:prstGeom>
          <a:solidFill>
            <a:srgbClr val="0097A7">
              <a:alpha val="70000"/>
            </a:srgbClr>
          </a:solidFill>
          <a:ln w="6350">
            <a:solidFill>
              <a:srgbClr val="0097A7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642616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12664" y="2587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312664" y="291693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0097A7">
              <a:alpha val="65000"/>
            </a:srgbClr>
          </a:solidFill>
          <a:ln w="3810">
            <a:solidFill>
              <a:srgbClr val="0097A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312664" y="2916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5312664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impersonating IT support, banks, or government agencies to extract info.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47472" y="384048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4CAF50">
              <a:alpha val="70000"/>
            </a:srgbClr>
          </a:solidFill>
          <a:ln w="6350">
            <a:solidFill>
              <a:srgbClr val="4CAF50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968496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60704" y="3913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1060704" y="424281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4CAF50">
              <a:alpha val="65000"/>
            </a:srgbClr>
          </a:solidFill>
          <a:ln w="3810">
            <a:solidFill>
              <a:srgbClr val="4CAF5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60704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1060704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text messages with malicious links or urgent fake alerts.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599432" y="3840480"/>
            <a:ext cx="4069080" cy="1207008"/>
          </a:xfrm>
          <a:prstGeom prst="roundRect">
            <a:avLst>
              <a:gd name="adj" fmla="val 9091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4709160" y="3931920"/>
            <a:ext cx="502920" cy="502920"/>
          </a:xfrm>
          <a:prstGeom prst="ellipse">
            <a:avLst/>
          </a:prstGeom>
          <a:solidFill>
            <a:srgbClr val="EF5350">
              <a:alpha val="70000"/>
            </a:srgbClr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3968496"/>
            <a:ext cx="320040" cy="32004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312664" y="3913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5312664" y="424281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EF5350">
              <a:alpha val="65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312664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Hijacking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5312664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users from legitimate sites to fake lookalike pages silently.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Phishing Attack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anatomy of a phishing campaign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737360"/>
            <a:ext cx="27432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1645920"/>
            <a:ext cx="0" cy="18288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344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1E88E5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E88E5">
              <a:alpha val="90000"/>
            </a:srgbClr>
          </a:solidFill>
          <a:ln w="381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2588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3716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researches target — finds email, company, social profiles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1737360"/>
            <a:ext cx="274320" cy="0"/>
          </a:xfrm>
          <a:prstGeom prst="line">
            <a:avLst/>
          </a:prstGeom>
          <a:noFill/>
          <a:ln w="25400">
            <a:solidFill>
              <a:srgbClr val="FF70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16752" y="1645920"/>
            <a:ext cx="0" cy="182880"/>
          </a:xfrm>
          <a:prstGeom prst="line">
            <a:avLst/>
          </a:prstGeom>
          <a:noFill/>
          <a:ln w="25400">
            <a:solidFill>
              <a:srgbClr val="FF70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82112" y="12344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FF7043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132588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FF7043">
              <a:alpha val="90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132588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3716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9184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Lure Creation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319272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convincing email with fake logo, urgent message &amp; malicious link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16752" y="12344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0097A7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132588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0097A7">
              <a:alpha val="90000"/>
            </a:srgbClr>
          </a:solidFill>
          <a:ln w="3810">
            <a:solidFill>
              <a:srgbClr val="0097A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26480" y="132588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37160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648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153912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or targeted email delivered to victim inbox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926080" y="3703320"/>
            <a:ext cx="274320" cy="0"/>
          </a:xfrm>
          <a:prstGeom prst="line">
            <a:avLst/>
          </a:prstGeom>
          <a:noFill/>
          <a:ln w="25400">
            <a:solidFill>
              <a:srgbClr val="EF535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182112" y="3611880"/>
            <a:ext cx="0" cy="182880"/>
          </a:xfrm>
          <a:prstGeom prst="line">
            <a:avLst/>
          </a:prstGeom>
          <a:noFill/>
          <a:ln w="25400">
            <a:solidFill>
              <a:srgbClr val="EF535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47472" y="32004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EF535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2918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EF5350">
              <a:alpha val="90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200" y="32918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3337560"/>
            <a:ext cx="502920" cy="5029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720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84632" y="4224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link, lands on fake login or downloads malware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760720" y="3703320"/>
            <a:ext cx="274320" cy="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016752" y="3611880"/>
            <a:ext cx="0" cy="18288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182112" y="32004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9C27B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291840" y="32918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9C27B0">
              <a:alpha val="90000"/>
            </a:srgbClr>
          </a:solidFill>
          <a:ln w="3810">
            <a:solidFill>
              <a:srgbClr val="9C27B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291840" y="32918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3337560"/>
            <a:ext cx="502920" cy="5029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29184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3319272" y="4224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or sensitive data sent to attacker's server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016752" y="32004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F1F3A">
              <a:alpha val="95000"/>
            </a:srgbClr>
          </a:solidFill>
          <a:ln w="10160">
            <a:solidFill>
              <a:srgbClr val="EF535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126480" y="32918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EF5350">
              <a:alpha val="90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26480" y="32918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3337560"/>
            <a:ext cx="502920" cy="5029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12648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&amp; Damage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6153912" y="4224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data for financial fraud, ransomware, or resale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a Phishing Email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spot before you click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1C1C2E"/>
          </a:solidFill>
          <a:ln w="10160">
            <a:solidFill>
              <a:srgbClr val="1E88E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88720"/>
            <a:ext cx="3931920" cy="411480"/>
          </a:xfrm>
          <a:prstGeom prst="roundRect">
            <a:avLst>
              <a:gd name="adj" fmla="val 26667"/>
            </a:avLst>
          </a:prstGeom>
          <a:solidFill>
            <a:srgbClr val="0E3A5C"/>
          </a:solidFill>
          <a:ln w="12700">
            <a:solidFill>
              <a:srgbClr val="0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Suspicious Email Inbox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EF5350">
              <a:alpha val="70000"/>
            </a:srgbClr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Warning: This email may be dangerous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security@paypa1-alert.com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" y="2432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Verify Your Account Now!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Dec 11 2025, 2:13 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3657600" cy="0"/>
          </a:xfrm>
          <a:prstGeom prst="line">
            <a:avLst/>
          </a:prstGeom>
          <a:noFill/>
          <a:ln w="6350">
            <a:solidFill>
              <a:srgbClr val="0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suspicious activity on your account. Click the link below IMMEDIATELY to verify your identity or your account will be SUSPENDED within 24 hours!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05840" y="4553712"/>
            <a:ext cx="2011680" cy="228600"/>
          </a:xfrm>
          <a:prstGeom prst="roundRect">
            <a:avLst>
              <a:gd name="adj" fmla="val 32000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 → bit.ly/p4y-pal-secure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Red Flags Identified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62272" y="1664208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EF5350">
              <a:alpha val="25000"/>
            </a:srgbClr>
          </a:solidFill>
          <a:ln w="5080">
            <a:solidFill>
              <a:srgbClr val="EF5350">
                <a:alpha val="7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719072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864608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domain (paypa1 not paypal)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462272" y="2139696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F7043">
              <a:alpha val="25000"/>
            </a:srgbClr>
          </a:solidFill>
          <a:ln w="5080">
            <a:solidFill>
              <a:srgbClr val="FF7043">
                <a:alpha val="70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94560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864608" y="2185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extreme urgency and fear ('24 hours')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462272" y="2615184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FD54F">
              <a:alpha val="25000"/>
            </a:srgbClr>
          </a:solidFill>
          <a:ln w="5080">
            <a:solidFill>
              <a:srgbClr val="FFD54F">
                <a:alpha val="7000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67004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64608" y="2660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'Dear Valued Customer'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462272" y="3090672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EF5350">
              <a:alpha val="25000"/>
            </a:srgbClr>
          </a:solidFill>
          <a:ln w="5080">
            <a:solidFill>
              <a:srgbClr val="EF5350">
                <a:alpha val="7000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145536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864608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/ shortened suspicious link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62272" y="3566160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F7043">
              <a:alpha val="25000"/>
            </a:srgbClr>
          </a:solidFill>
          <a:ln w="5080">
            <a:solidFill>
              <a:srgbClr val="FF7043">
                <a:alpha val="70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621024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864608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errors and excessive capitalization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462272" y="4041648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FD54F">
              <a:alpha val="25000"/>
            </a:srgbClr>
          </a:solidFill>
          <a:ln w="5080">
            <a:solidFill>
              <a:srgbClr val="FFD54F">
                <a:alpha val="70000"/>
              </a:srgbClr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096512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864608" y="4087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at unusual time (2:13 AM)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462272" y="4517136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F7043">
              <a:alpha val="25000"/>
            </a:srgbClr>
          </a:solidFill>
          <a:ln w="5080">
            <a:solidFill>
              <a:srgbClr val="FF7043">
                <a:alpha val="70000"/>
              </a:srgbClr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572000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64608" y="4562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— doesn't use your name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 vs Real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cues and technical checks to verify legitimacy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188720"/>
            <a:ext cx="0" cy="37490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2697480"/>
            <a:ext cx="502920" cy="502920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1887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4CAF50">
              <a:alpha val="12000"/>
            </a:srgbClr>
          </a:solidFill>
          <a:ln w="10160">
            <a:solidFill>
              <a:srgbClr val="4CAF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188720"/>
            <a:ext cx="4069080" cy="347472"/>
          </a:xfrm>
          <a:prstGeom prst="roundRect">
            <a:avLst>
              <a:gd name="adj" fmla="val 31579"/>
            </a:avLst>
          </a:prstGeom>
          <a:solidFill>
            <a:srgbClr val="4CAF50">
              <a:alpha val="6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Website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664208"/>
            <a:ext cx="3749040" cy="320040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6350">
            <a:solidFill>
              <a:srgbClr val="4CAF5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https://www.paypal.com/login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798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" y="21579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valid SSL certificate (padlock icon)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877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2587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domain — paypal.com (not paypa1.com)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polished design, no typos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4728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" y="3447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branding and contact info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7705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1248" y="3877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 verifiable (years old, not days)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06824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41248" y="43068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and legal pages present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754880" y="11887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EF5350">
              <a:alpha val="12000"/>
            </a:srgbClr>
          </a:solidFill>
          <a:ln w="1016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754880" y="1188720"/>
            <a:ext cx="4069080" cy="347472"/>
          </a:xfrm>
          <a:prstGeom prst="roundRect">
            <a:avLst>
              <a:gd name="adj" fmla="val 31579"/>
            </a:avLst>
          </a:prstGeom>
          <a:solidFill>
            <a:srgbClr val="EF5350">
              <a:alpha val="6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4864608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FAKE Website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892040" y="1664208"/>
            <a:ext cx="3749040" cy="320040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69164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57800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http://paypa1-secure.xyz/login</a:t>
            </a:r>
            <a:endParaRPr lang="en-US" sz="9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157984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30368" y="21579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 — no SSL, or fake/expired certificate</a:t>
            </a:r>
            <a:endParaRPr lang="en-US" sz="10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587752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30368" y="2587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— paypa1, paypa1-secure.xyz</a:t>
            </a:r>
            <a:endParaRPr lang="en-US" sz="10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017520"/>
            <a:ext cx="256032" cy="25603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30368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fonts, blurry logos, odd layout</a:t>
            </a:r>
            <a:endParaRPr lang="en-US" sz="10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447288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230368" y="3447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 info, footer links don't work</a:t>
            </a:r>
            <a:endParaRPr lang="en-US" sz="10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3877056"/>
            <a:ext cx="256032" cy="25603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230368" y="3877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domain (registered days ago)</a:t>
            </a:r>
            <a:endParaRPr lang="en-US" sz="10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4306824"/>
            <a:ext cx="256032" cy="256032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230368" y="43068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pop-ups and excessive login prompts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Explained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manipulation — the human hack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1920240"/>
            <a:ext cx="1371600" cy="1371600"/>
          </a:xfrm>
          <a:prstGeom prst="ellipse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084832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862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" y="128016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" y="1389888"/>
            <a:ext cx="438912" cy="438912"/>
          </a:xfrm>
          <a:prstGeom prst="ellipse">
            <a:avLst/>
          </a:prstGeom>
          <a:solidFill>
            <a:srgbClr val="FF7043">
              <a:alpha val="70000"/>
            </a:srgbClr>
          </a:solidFill>
          <a:ln w="6350">
            <a:solidFill>
              <a:srgbClr val="FF704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4264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9768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fabricated scenario to manipulate the victim into giving info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9260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" y="3035808"/>
            <a:ext cx="438912" cy="438912"/>
          </a:xfrm>
          <a:prstGeom prst="ellipse">
            <a:avLst/>
          </a:prstGeom>
          <a:solidFill>
            <a:srgbClr val="EF5350">
              <a:alpha val="70000"/>
            </a:srgbClr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0723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63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29768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now or lose access!' Pressure forces hasty, unthought decisions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0" y="128016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0528" y="1389888"/>
            <a:ext cx="438912" cy="438912"/>
          </a:xfrm>
          <a:prstGeom prst="ellipse">
            <a:avLst/>
          </a:prstGeom>
          <a:solidFill>
            <a:srgbClr val="9C27B0">
              <a:alpha val="70000"/>
            </a:srgbClr>
          </a:solidFill>
          <a:ln w="6350">
            <a:solidFill>
              <a:srgbClr val="9C27B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42646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10528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CEO, IT admin, or police to demand compliance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400800" y="29260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10528" y="3035808"/>
            <a:ext cx="438912" cy="438912"/>
          </a:xfrm>
          <a:prstGeom prst="ellipse">
            <a:avLst/>
          </a:prstGeom>
          <a:solidFill>
            <a:srgbClr val="4CAF50">
              <a:alpha val="70000"/>
            </a:srgbClr>
          </a:solidFill>
          <a:ln w="6350">
            <a:solidFill>
              <a:srgbClr val="4CAF5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0723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40880" y="3063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510528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'free gift' to create an obligation to return the favor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651760" y="2084832"/>
            <a:ext cx="1234440" cy="0"/>
          </a:xfrm>
          <a:prstGeom prst="line">
            <a:avLst/>
          </a:prstGeom>
          <a:noFill/>
          <a:ln w="10160">
            <a:solidFill>
              <a:srgbClr val="FF704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651760" y="3703320"/>
            <a:ext cx="868680" cy="-731520"/>
          </a:xfrm>
          <a:prstGeom prst="line">
            <a:avLst/>
          </a:prstGeom>
          <a:noFill/>
          <a:ln w="10160">
            <a:solidFill>
              <a:srgbClr val="EF535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257800" y="2084832"/>
            <a:ext cx="1143000" cy="0"/>
          </a:xfrm>
          <a:prstGeom prst="line">
            <a:avLst/>
          </a:prstGeom>
          <a:noFill/>
          <a:ln w="10160">
            <a:solidFill>
              <a:srgbClr val="9C27B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257800" y="3703320"/>
            <a:ext cx="685800" cy="-731520"/>
          </a:xfrm>
          <a:prstGeom prst="line">
            <a:avLst/>
          </a:prstGeom>
          <a:noFill/>
          <a:ln w="10160">
            <a:solidFill>
              <a:srgbClr val="4CAF5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47472" y="4709160"/>
            <a:ext cx="8458200" cy="292608"/>
          </a:xfrm>
          <a:prstGeom prst="roundRect">
            <a:avLst>
              <a:gd name="adj" fmla="val 25000"/>
            </a:avLst>
          </a:prstGeom>
          <a:solidFill>
            <a:srgbClr val="1565C0">
              <a:alpha val="60000"/>
            </a:srgbClr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02920" y="4727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Social engineering exploits human psychology, not technical vulnerabilities. Training and awareness are the only defense.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Examples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attacks from major cybersecurity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34440"/>
            <a:ext cx="8458200" cy="1170432"/>
          </a:xfrm>
          <a:prstGeom prst="roundRect">
            <a:avLst>
              <a:gd name="adj" fmla="val 9375"/>
            </a:avLst>
          </a:prstGeom>
          <a:solidFill>
            <a:srgbClr val="112240">
              <a:alpha val="90000"/>
            </a:srgbClr>
          </a:solidFill>
          <a:ln w="7620">
            <a:solidFill>
              <a:srgbClr val="EF535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44168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EF5350">
              <a:alpha val="80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3258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F5350">
              <a:alpha val="65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3258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$100M+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49440" y="1325880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1565C0">
              <a:alpha val="70000"/>
            </a:srgbClr>
          </a:solidFill>
          <a:ln w="381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258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/ Invoice Fraud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88720" y="170992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man sent fake invoices impersonating a hardware vendor. Employees at both companies wired over $100 million before the fraud was discovered.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532888"/>
            <a:ext cx="8458200" cy="1170432"/>
          </a:xfrm>
          <a:prstGeom prst="roundRect">
            <a:avLst>
              <a:gd name="adj" fmla="val 9375"/>
            </a:avLst>
          </a:prstGeom>
          <a:solidFill>
            <a:srgbClr val="112240">
              <a:alpha val="90000"/>
            </a:srgbClr>
          </a:solidFill>
          <a:ln w="7620">
            <a:solidFill>
              <a:srgbClr val="FF7043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42616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F7043">
              <a:alpha val="80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88720" y="2624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262432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F7043">
              <a:alpha val="65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624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140 VIP Accounts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49440" y="2624328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1565C0">
              <a:alpha val="70000"/>
            </a:srgbClr>
          </a:solidFill>
          <a:ln w="381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62432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+ Social Engineering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88720" y="3008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 pretending to be IT support, got internal credentials, and hijacked accounts of Musk, Obama, and Gates to run a Bitcoin scam.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831336"/>
            <a:ext cx="8458200" cy="1170432"/>
          </a:xfrm>
          <a:prstGeom prst="roundRect">
            <a:avLst>
              <a:gd name="adj" fmla="val 9375"/>
            </a:avLst>
          </a:prstGeom>
          <a:solidFill>
            <a:srgbClr val="112240">
              <a:alpha val="90000"/>
            </a:srgbClr>
          </a:solidFill>
          <a:ln w="7620">
            <a:solidFill>
              <a:srgbClr val="9C27B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41064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9C27B0">
              <a:alpha val="80000"/>
            </a:srgbClr>
          </a:solidFill>
          <a:ln w="3810">
            <a:solidFill>
              <a:srgbClr val="9C27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410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88720" y="3922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Data Breach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0" y="3922776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9C27B0">
              <a:alpha val="65000"/>
            </a:srgbClr>
          </a:solidFill>
          <a:ln w="3810">
            <a:solidFill>
              <a:srgbClr val="9C27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9227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Full Internal Access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3922776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1565C0">
              <a:alpha val="70000"/>
            </a:srgbClr>
          </a:solidFill>
          <a:ln w="381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92277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Fatigue + WhatsApp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88720" y="430682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posed as Uber IT on WhatsApp and bombarded an employee with MFA push notifications until they approved one, granting full network access.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Protection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cybersecurity defense framework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1E88E5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06424" y="1298448"/>
            <a:ext cx="475488" cy="475488"/>
          </a:xfrm>
          <a:prstGeom prst="ellipse">
            <a:avLst/>
          </a:prstGeom>
          <a:solidFill>
            <a:srgbClr val="1E88E5">
              <a:alpha val="70000"/>
            </a:srgbClr>
          </a:solidFill>
          <a:ln w="6350">
            <a:solidFill>
              <a:srgbClr val="1E88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34416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URLs. Never click links in unexpected emails.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96312" y="11887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FFD54F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55264" y="1298448"/>
            <a:ext cx="475488" cy="475488"/>
          </a:xfrm>
          <a:prstGeom prst="ellipse">
            <a:avLst/>
          </a:prstGeom>
          <a:solidFill>
            <a:srgbClr val="FFD54F">
              <a:alpha val="70000"/>
            </a:srgbClr>
          </a:solidFill>
          <a:ln w="6350">
            <a:solidFill>
              <a:srgbClr val="FFD5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441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8775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MFA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87752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on all accounts. Use authenticator apps, not SMS.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45152" y="11887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0097A7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04104" y="1298448"/>
            <a:ext cx="475488" cy="475488"/>
          </a:xfrm>
          <a:prstGeom prst="ellipse">
            <a:avLst/>
          </a:prstGeom>
          <a:solidFill>
            <a:srgbClr val="0097A7">
              <a:alpha val="70000"/>
            </a:srgbClr>
          </a:solidFill>
          <a:ln w="6350">
            <a:solidFill>
              <a:srgbClr val="0097A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34416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3659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36592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sender via official number to confirm unusual requests, especially financial.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793992" y="11887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4CAF5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52944" y="1298448"/>
            <a:ext cx="475488" cy="475488"/>
          </a:xfrm>
          <a:prstGeom prst="ellipse">
            <a:avLst/>
          </a:prstGeom>
          <a:solidFill>
            <a:srgbClr val="4CAF50">
              <a:alpha val="70000"/>
            </a:srgbClr>
          </a:solidFill>
          <a:ln w="6350">
            <a:solidFill>
              <a:srgbClr val="4CAF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34416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85432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systems block exploits. Enable auto-updates for OS, browser, and apps.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47472" y="31089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FF7043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106424" y="3218688"/>
            <a:ext cx="475488" cy="475488"/>
          </a:xfrm>
          <a:prstGeom prst="ellipse">
            <a:avLst/>
          </a:prstGeom>
          <a:solidFill>
            <a:srgbClr val="FF7043">
              <a:alpha val="70000"/>
            </a:srgbClr>
          </a:solidFill>
          <a:ln w="6350">
            <a:solidFill>
              <a:srgbClr val="FF704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3264408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38912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38912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strong passwords for every account. A password manager stores them safely.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2496312" y="31089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9C27B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55264" y="3218688"/>
            <a:ext cx="475488" cy="475488"/>
          </a:xfrm>
          <a:prstGeom prst="ellipse">
            <a:avLst/>
          </a:prstGeom>
          <a:solidFill>
            <a:srgbClr val="9C27B0">
              <a:alpha val="70000"/>
            </a:srgbClr>
          </a:solidFill>
          <a:ln w="6350">
            <a:solidFill>
              <a:srgbClr val="9C27B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264408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87752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Secure Networks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2587752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public Wi-Fi for sensitive tasks. Use VPN when working remotely.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645152" y="31089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EF535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404104" y="3218688"/>
            <a:ext cx="475488" cy="475488"/>
          </a:xfrm>
          <a:prstGeom prst="ellipse">
            <a:avLst/>
          </a:prstGeom>
          <a:solidFill>
            <a:srgbClr val="EF5350">
              <a:alpha val="70000"/>
            </a:srgbClr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3264408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736592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736592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to your IT/security team immediately. Don't delete — report first.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6793992" y="31089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12240">
              <a:alpha val="92000"/>
            </a:srgbClr>
          </a:solidFill>
          <a:ln w="6350">
            <a:solidFill>
              <a:srgbClr val="00BCD4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7552944" y="3218688"/>
            <a:ext cx="475488" cy="475488"/>
          </a:xfrm>
          <a:prstGeom prst="ellipse">
            <a:avLst/>
          </a:prstGeom>
          <a:solidFill>
            <a:srgbClr val="00BCD4">
              <a:alpha val="70000"/>
            </a:srgbClr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3264408"/>
            <a:ext cx="310896" cy="31089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85432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6885432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annual training. Attackers evolve; your knowledge must evolve too.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Suspect Phishing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checklist — respond, don't panic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" y="1801368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81051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7739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do not click any link or attachment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" y="2240280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249424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212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your IT security team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" y="2679192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68833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26517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phishing email to: phishing@reportspam.net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" y="3118104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12724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 if you already clicked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5488" y="3557016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56616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35295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immediately on affected accounts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" y="3995928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005072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39684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 for suspicious activity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75488" y="4434840"/>
            <a:ext cx="228600" cy="228600"/>
          </a:xfrm>
          <a:prstGeom prst="ellipse">
            <a:avLst/>
          </a:prstGeom>
          <a:solidFill>
            <a:srgbClr val="4CAF50">
              <a:alpha val="70000"/>
            </a:srgbClr>
          </a:solidFill>
          <a:ln w="3810">
            <a:solidFill>
              <a:srgbClr val="4CAF5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443984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7240" y="4407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your manager and colleagues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663440" y="118872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48006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Do This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4773168" y="1801368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1810512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74920" y="17739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or open attachments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4773168" y="2240280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1456" y="2249424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74920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reply to the phishing sender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773168" y="2679192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456" y="268833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74920" y="2651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enter credentials on any linked page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4773168" y="3118104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456" y="3127248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074920" y="30906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forward the phishing email to others</a:t>
            </a:r>
            <a:endParaRPr lang="en-US" sz="1050" dirty="0"/>
          </a:p>
        </p:txBody>
      </p:sp>
      <p:sp>
        <p:nvSpPr>
          <p:cNvPr id="44" name="Shape 31"/>
          <p:cNvSpPr/>
          <p:nvPr/>
        </p:nvSpPr>
        <p:spPr>
          <a:xfrm>
            <a:off x="4773168" y="3557016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456" y="356616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074920" y="3529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it — report it immediately</a:t>
            </a:r>
            <a:endParaRPr lang="en-US" sz="1050" dirty="0"/>
          </a:p>
        </p:txBody>
      </p:sp>
      <p:sp>
        <p:nvSpPr>
          <p:cNvPr id="47" name="Shape 33"/>
          <p:cNvSpPr/>
          <p:nvPr/>
        </p:nvSpPr>
        <p:spPr>
          <a:xfrm>
            <a:off x="4773168" y="3995928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1456" y="4005072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074920" y="3968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it's harmless if nothing happened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4773168" y="4434840"/>
            <a:ext cx="228600" cy="228600"/>
          </a:xfrm>
          <a:prstGeom prst="ellipse">
            <a:avLst/>
          </a:prstGeom>
          <a:solidFill>
            <a:srgbClr val="EF5350">
              <a:alpha val="70000"/>
            </a:srgbClr>
          </a:solidFill>
          <a:ln w="3810">
            <a:solidFill>
              <a:srgbClr val="EF5350"/>
            </a:solidFill>
            <a:prstDash val="solid"/>
          </a:ln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4443984"/>
            <a:ext cx="182880" cy="18288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5074920" y="4407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handle it alone without IT support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3A5C">
              <a:alpha val="25000"/>
            </a:srgbClr>
          </a:solidFill>
          <a:ln w="12700">
            <a:solidFill>
              <a:srgbClr val="0E3A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Awareness — Can You Spot the Threat?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4069080" cy="1828800"/>
          </a:xfrm>
          <a:prstGeom prst="roundRect">
            <a:avLst>
              <a:gd name="adj" fmla="val 6000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00BCD4">
              <a:alpha val="80000"/>
            </a:srgbClr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9264" y="12344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'support@amaz0n-help.net' asking you to verify your account. What do you do?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Click to verify account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1901952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4CAF50">
              <a:alpha val="70000"/>
            </a:srgbClr>
          </a:solidFill>
          <a:ln w="508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Report &amp; delete the email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956816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23774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2414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Reply asking for details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77440" y="23774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50592" y="2414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Forward to colleagues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" y="2880360"/>
            <a:ext cx="4069080" cy="1920240"/>
          </a:xfrm>
          <a:prstGeom prst="roundRect">
            <a:avLst>
              <a:gd name="adj" fmla="val 5714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953512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FF7043">
              <a:alpha val="80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95351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9264" y="2926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the strongest indicator of a phishing website?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35204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Website has lots of images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377440" y="35204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4CAF50">
              <a:alpha val="70000"/>
            </a:srgbClr>
          </a:solidFill>
          <a:ln w="5080">
            <a:solidFill>
              <a:srgbClr val="4CAF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50592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HTTP only, no padlock icon</a:t>
            </a:r>
            <a:endParaRPr lang="en-US" sz="9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575304"/>
            <a:ext cx="182880" cy="1828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57200" y="39776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0352" y="4014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Login page looks clean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377440" y="39776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450592" y="4014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Email came from contact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63440" y="118872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73168" y="1261872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0097A7">
              <a:alpha val="80000"/>
            </a:srgbClr>
          </a:solidFill>
          <a:ln w="3810">
            <a:solidFill>
              <a:srgbClr val="0097A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126187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285232" y="12344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CEO emails asking you to urgently wire $5,000. The email looks official. What do you do?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773168" y="1901952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46320" y="19385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Wire money immediately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39128" y="1901952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4CAF50">
              <a:alpha val="70000"/>
            </a:srgbClr>
          </a:solidFill>
          <a:ln w="5080">
            <a:solidFill>
              <a:srgbClr val="4CAF5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12280" y="19385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Call CEO directly to verify</a:t>
            </a:r>
            <a:endParaRPr lang="en-US" sz="9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956816"/>
            <a:ext cx="182880" cy="182880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4773168" y="23774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46320" y="2414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Reply asking for bank details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739128" y="23774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50000"/>
            </a:srgbClr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812280" y="2414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Ask a colleague to handle it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4663440" y="288036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480060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Quiz Score Card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4773168" y="3383280"/>
            <a:ext cx="457200" cy="237744"/>
          </a:xfrm>
          <a:prstGeom prst="roundRect">
            <a:avLst>
              <a:gd name="adj" fmla="val 30769"/>
            </a:avLst>
          </a:prstGeom>
          <a:solidFill>
            <a:srgbClr val="4CAF50">
              <a:alpha val="75000"/>
            </a:srgbClr>
          </a:solidFill>
          <a:ln w="3810">
            <a:solidFill>
              <a:srgbClr val="4CAF5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773168" y="33832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5303520" y="3401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Champion! 🛡️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4773168" y="3721608"/>
            <a:ext cx="457200" cy="237744"/>
          </a:xfrm>
          <a:prstGeom prst="roundRect">
            <a:avLst>
              <a:gd name="adj" fmla="val 30769"/>
            </a:avLst>
          </a:prstGeom>
          <a:solidFill>
            <a:srgbClr val="FFD54F">
              <a:alpha val="75000"/>
            </a:srgbClr>
          </a:solidFill>
          <a:ln w="3810">
            <a:solidFill>
              <a:srgbClr val="FFD54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773168" y="37216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30352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There! Keep Learning 📚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4773168" y="4059936"/>
            <a:ext cx="457200" cy="237744"/>
          </a:xfrm>
          <a:prstGeom prst="roundRect">
            <a:avLst>
              <a:gd name="adj" fmla="val 30769"/>
            </a:avLst>
          </a:prstGeom>
          <a:solidFill>
            <a:srgbClr val="FF7043">
              <a:alpha val="75000"/>
            </a:srgbClr>
          </a:solidFill>
          <a:ln w="3810">
            <a:solidFill>
              <a:srgbClr val="FF7043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773168" y="4059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303520" y="4078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Recommended ⚠️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4773168" y="4398264"/>
            <a:ext cx="457200" cy="237744"/>
          </a:xfrm>
          <a:prstGeom prst="roundRect">
            <a:avLst>
              <a:gd name="adj" fmla="val 30769"/>
            </a:avLst>
          </a:prstGeom>
          <a:solidFill>
            <a:srgbClr val="EF5350">
              <a:alpha val="75000"/>
            </a:srgbClr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773168" y="43982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303520" y="44165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Training Required 🚨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E3A5C">
              <a:alpha val="28000"/>
            </a:srgbClr>
          </a:solidFill>
          <a:ln w="12700">
            <a:solidFill>
              <a:srgbClr val="0E3A5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principles — your daily shield against phishing attacks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0700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1E88E5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98448"/>
            <a:ext cx="438912" cy="438912"/>
          </a:xfrm>
          <a:prstGeom prst="ellipse">
            <a:avLst/>
          </a:prstGeom>
          <a:solidFill>
            <a:srgbClr val="1E88E5">
              <a:alpha val="70000"/>
            </a:srgbClr>
          </a:solidFill>
          <a:ln w="6350">
            <a:solidFill>
              <a:srgbClr val="1E88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3502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2984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sender identity before acting on any email request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20700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FF7043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1298448"/>
            <a:ext cx="438912" cy="438912"/>
          </a:xfrm>
          <a:prstGeom prst="ellipse">
            <a:avLst/>
          </a:prstGeom>
          <a:solidFill>
            <a:srgbClr val="FF7043">
              <a:alpha val="70000"/>
            </a:srgbClr>
          </a:solidFill>
          <a:ln w="6350">
            <a:solidFill>
              <a:srgbClr val="FF704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350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984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fear are manipulation tools — pause and think critically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53328" y="120700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FFD54F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1298448"/>
            <a:ext cx="438912" cy="438912"/>
          </a:xfrm>
          <a:prstGeom prst="ellipse">
            <a:avLst/>
          </a:prstGeom>
          <a:solidFill>
            <a:srgbClr val="FFD54F">
              <a:alpha val="70000"/>
            </a:srgbClr>
          </a:solidFill>
          <a:ln w="6350">
            <a:solidFill>
              <a:srgbClr val="FFD5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35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2984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everywhere — it blocks 99.9% of automated attacks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7472" y="262432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0097A7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715768"/>
            <a:ext cx="438912" cy="438912"/>
          </a:xfrm>
          <a:prstGeom prst="ellipse">
            <a:avLst/>
          </a:prstGeom>
          <a:solidFill>
            <a:srgbClr val="0097A7">
              <a:alpha val="70000"/>
            </a:srgbClr>
          </a:solidFill>
          <a:ln w="6350">
            <a:solidFill>
              <a:srgbClr val="0097A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7523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271576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call to verify — especially for financial requests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00400" y="262432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EF535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10128" y="2715768"/>
            <a:ext cx="438912" cy="438912"/>
          </a:xfrm>
          <a:prstGeom prst="ellipse">
            <a:avLst/>
          </a:prstGeom>
          <a:solidFill>
            <a:srgbClr val="EF5350">
              <a:alpha val="70000"/>
            </a:srgbClr>
          </a:solidFill>
          <a:ln w="6350">
            <a:solidFill>
              <a:srgbClr val="EF535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75234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40480" y="271576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phishing attempts — you protect the whole organization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053328" y="2624328"/>
            <a:ext cx="2715768" cy="1261872"/>
          </a:xfrm>
          <a:prstGeom prst="roundRect">
            <a:avLst>
              <a:gd name="adj" fmla="val 8696"/>
            </a:avLst>
          </a:prstGeom>
          <a:solidFill>
            <a:srgbClr val="1A3A5C">
              <a:alpha val="80000"/>
            </a:srgbClr>
          </a:solidFill>
          <a:ln w="6350">
            <a:solidFill>
              <a:srgbClr val="4CAF5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163056" y="2715768"/>
            <a:ext cx="438912" cy="438912"/>
          </a:xfrm>
          <a:prstGeom prst="ellipse">
            <a:avLst/>
          </a:prstGeom>
          <a:solidFill>
            <a:srgbClr val="4CAF50">
              <a:alpha val="70000"/>
            </a:srgbClr>
          </a:solidFill>
          <a:ln w="6350">
            <a:solidFill>
              <a:srgbClr val="4CAF5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75234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93408" y="271576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updated — cybersecurity threats evolve constantly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47472" y="4133088"/>
            <a:ext cx="8458200" cy="749808"/>
          </a:xfrm>
          <a:prstGeom prst="roundRect">
            <a:avLst>
              <a:gd name="adj" fmla="val 18293"/>
            </a:avLst>
          </a:prstGeom>
          <a:solidFill>
            <a:srgbClr val="1565C0">
              <a:alpha val="75000"/>
            </a:srgbClr>
          </a:solidFill>
          <a:ln w="10160">
            <a:solidFill>
              <a:srgbClr val="00BCD4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06240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88720" y="42062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Vigilant. Stay Secure. Think Before You Click.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1188720" y="4590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everyone's responsibility | Report · Verify · Protect</a:t>
            </a:r>
            <a:endParaRPr lang="en-US" sz="9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0E3A5C">
              <a:alpha val="32000"/>
            </a:srgbClr>
          </a:solidFill>
          <a:ln w="12700">
            <a:solidFill>
              <a:srgbClr val="0E3A5C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200400"/>
            <a:ext cx="3657600" cy="3657600"/>
          </a:xfrm>
          <a:prstGeom prst="ellipse">
            <a:avLst/>
          </a:prstGeom>
          <a:solidFill>
            <a:srgbClr val="0097A7">
              <a:alpha val="15000"/>
            </a:srgbClr>
          </a:solidFill>
          <a:ln w="12700">
            <a:solidFill>
              <a:srgbClr val="0097A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502920"/>
            <a:ext cx="7680960" cy="4206240"/>
          </a:xfrm>
          <a:prstGeom prst="roundRect">
            <a:avLst>
              <a:gd name="adj" fmla="val 4348"/>
            </a:avLst>
          </a:prstGeom>
          <a:solidFill>
            <a:srgbClr val="1A3A5C">
              <a:alpha val="80000"/>
            </a:srgbClr>
          </a:solidFill>
          <a:ln w="10160">
            <a:solidFill>
              <a:srgbClr val="00BCD4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0097A7">
              <a:alpha val="80000"/>
            </a:srgbClr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74980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3474720" y="2578608"/>
            <a:ext cx="2194560" cy="64008"/>
          </a:xfrm>
          <a:prstGeom prst="roundRect">
            <a:avLst>
              <a:gd name="adj" fmla="val 5714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24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a step ahead of phishing threats!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828800" y="32918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0097A7">
              <a:alpha val="55000"/>
            </a:srgbClr>
          </a:solidFill>
          <a:ln w="6350">
            <a:solidFill>
              <a:srgbClr val="0097A7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34015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40864" y="3401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49040" y="32918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88E5">
              <a:alpha val="55000"/>
            </a:srgbClr>
          </a:solidFill>
          <a:ln w="6350">
            <a:solidFill>
              <a:srgbClr val="1E88E5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340156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61104" y="3401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0" y="32918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FF7043">
              <a:alpha val="55000"/>
            </a:srgbClr>
          </a:solidFill>
          <a:ln w="6350">
            <a:solidFill>
              <a:srgbClr val="FF7043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4015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3401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Aware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1520" y="4773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Training  ·  2025 Edition  ·  Protect · Verify · Report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Cybersecurity Awareness Team</dc:creator>
  <cp:lastModifiedBy>Cybersecurity Awareness Team</cp:lastModifiedBy>
  <cp:revision>1</cp:revision>
  <dcterms:created xsi:type="dcterms:W3CDTF">2026-06-11T10:51:52Z</dcterms:created>
  <dcterms:modified xsi:type="dcterms:W3CDTF">2026-06-11T10:51:52Z</dcterms:modified>
</cp:coreProperties>
</file>